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914400"/>
            <a:ext cx="1188720" cy="1188720"/>
          </a:xfrm>
          <a:prstGeom prst="ellipse">
            <a:avLst/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0" y="932688"/>
            <a:ext cx="1188720" cy="11704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1920240"/>
            <a:ext cx="731520" cy="731520"/>
          </a:xfrm>
          <a:prstGeom prst="ellipse">
            <a:avLst/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1938528"/>
            <a:ext cx="731520" cy="7132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0" y="2743200"/>
            <a:ext cx="502920" cy="502920"/>
          </a:xfrm>
          <a:prstGeom prst="ellipse">
            <a:avLst/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2761488"/>
            <a:ext cx="502920" cy="4846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15600" y="3657600"/>
            <a:ext cx="914400" cy="914400"/>
          </a:xfrm>
          <a:prstGeom prst="ellipse">
            <a:avLst/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0" y="3675887"/>
            <a:ext cx="914400" cy="8961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589520" y="4114800"/>
            <a:ext cx="411480" cy="411480"/>
          </a:xfrm>
          <a:prstGeom prst="ellipse">
            <a:avLst/>
          </a:prstGeom>
          <a:solidFill>
            <a:srgbClr val="FFCC4D"/>
          </a:solidFill>
          <a:ln>
            <a:solidFill>
              <a:srgbClr val="FF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0" y="4133087"/>
            <a:ext cx="411480" cy="3931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9235440" y="1554480"/>
            <a:ext cx="1005840" cy="594360"/>
          </a:xfrm>
          <a:prstGeom prst="line">
            <a:avLst/>
          </a:prstGeom>
          <a:ln w="254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686800" y="1920240"/>
            <a:ext cx="228600" cy="822960"/>
          </a:xfrm>
          <a:prstGeom prst="line">
            <a:avLst/>
          </a:prstGeom>
          <a:ln w="254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86800" y="3246120"/>
            <a:ext cx="1828800" cy="868680"/>
          </a:xfrm>
          <a:prstGeom prst="line">
            <a:avLst/>
          </a:prstGeom>
          <a:ln w="254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229600" y="4114800"/>
            <a:ext cx="2286000" cy="274320"/>
          </a:xfrm>
          <a:prstGeom prst="line">
            <a:avLst/>
          </a:prstGeom>
          <a:ln w="254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960120"/>
            <a:ext cx="7132320" cy="9144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4000" b="1">
                <a:solidFill>
                  <a:srgbClr val="F5F8FF"/>
                </a:solidFill>
                <a:latin typeface="Aptos"/>
              </a:rPr>
              <a:t>MEDIAMINE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874519"/>
            <a:ext cx="6766560" cy="4572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3EDCFF"/>
                </a:solidFill>
                <a:latin typeface="Aptos"/>
              </a:rPr>
              <a:t>Intelligent Media Analytics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514600"/>
            <a:ext cx="6583680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0">
                <a:solidFill>
                  <a:srgbClr val="B2BED7"/>
                </a:solidFill>
                <a:latin typeface="Aptos"/>
              </a:rPr>
              <a:t>A DSA-driven platform for media search, indexing,
similarity analysis, optimization and real-time analytics.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77639"/>
            <a:ext cx="5394960" cy="54864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142232"/>
            <a:ext cx="5029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DATA STRUCTURES  •  ALGORITHMS  •  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92040"/>
            <a:ext cx="18288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F56B1"/>
                </a:solidFill>
                <a:latin typeface="Aptos"/>
              </a:rPr>
              <a:t>REVIEW –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734" y="5285232"/>
            <a:ext cx="2310504" cy="4247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F5F8FF"/>
                </a:solidFill>
                <a:latin typeface="Aptos"/>
              </a:rPr>
              <a:t>Team: </a:t>
            </a:r>
            <a:r>
              <a:rPr lang="en-US" sz="1200" dirty="0">
                <a:solidFill>
                  <a:srgbClr val="F5F8FF"/>
                </a:solidFill>
                <a:latin typeface="Aptos"/>
              </a:rPr>
              <a:t>S. Yashaswini : 2500030874</a:t>
            </a:r>
          </a:p>
          <a:p>
            <a:pPr algn="l"/>
            <a:r>
              <a:rPr lang="en-US" sz="1200" dirty="0">
                <a:solidFill>
                  <a:srgbClr val="F5F8FF"/>
                </a:solidFill>
                <a:latin typeface="Aptos"/>
              </a:rPr>
              <a:t>              G. Shalini : 2500031987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50992"/>
            <a:ext cx="5029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2BED7"/>
                </a:solidFill>
                <a:latin typeface="Aptos"/>
              </a:rPr>
              <a:t>Course: Data Structures &amp;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83188" y="133949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-731520" y="6217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FF56B1"/>
                </a:solidFill>
                <a:latin typeface="Aptos"/>
              </a:rPr>
              <a:t>WHY MEDIAMINE?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515600" cy="5486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B2BED7"/>
                </a:solidFill>
                <a:latin typeface="Aptos"/>
              </a:rPr>
              <a:t>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B2BED7"/>
                </a:solidFill>
                <a:latin typeface="Aptos"/>
              </a:rPr>
              <a:t>MEDIAMINE  •  REVIEW–1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3840480" cy="438912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50292" cy="4389120"/>
          </a:xfrm>
          <a:prstGeom prst="roundRect">
            <a:avLst>
              <a:gd name="adj" fmla="val 12000"/>
            </a:avLst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764792"/>
            <a:ext cx="329184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THE MEDIA DATA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2896242" cy="305622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Modern platforms continuously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 manage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 news articles, videos, transcripts, 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captions, metadata, search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 queries, categories and viewing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 events.
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endParaRPr lang="en-US" sz="1500" dirty="0">
              <a:solidFill>
                <a:srgbClr val="B2BED7"/>
              </a:solidFill>
              <a:latin typeface="Aptos"/>
            </a:endParaRPr>
          </a:p>
          <a:p>
            <a:pPr algn="l"/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
As content volume grows, 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simple sequential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 processing becomes inefficient.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600200"/>
            <a:ext cx="3154680" cy="438912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26280" y="1600200"/>
            <a:ext cx="50292" cy="4389120"/>
          </a:xfrm>
          <a:prstGeom prst="roundRect">
            <a:avLst>
              <a:gd name="adj" fmla="val 12000"/>
            </a:avLst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27448" y="1764792"/>
            <a:ext cx="278892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CORE 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148840"/>
            <a:ext cx="2697480" cy="34747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Search keywords inside long documents</a:t>
            </a:r>
          </a:p>
          <a:p>
            <a:pPr>
              <a:spcAft>
                <a:spcPts val="5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Detect many topics at once</a:t>
            </a:r>
          </a:p>
          <a:p>
            <a:pPr>
              <a:spcAft>
                <a:spcPts val="5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Index large transcripts</a:t>
            </a:r>
          </a:p>
          <a:p>
            <a:pPr>
              <a:spcAft>
                <a:spcPts val="5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Find common phrases</a:t>
            </a:r>
          </a:p>
          <a:p>
            <a:pPr>
              <a:spcAft>
                <a:spcPts val="5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Correct noisy queries</a:t>
            </a:r>
          </a:p>
          <a:p>
            <a:pPr>
              <a:spcAft>
                <a:spcPts val="5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Compare sequences with errors</a:t>
            </a:r>
          </a:p>
          <a:p>
            <a:pPr>
              <a:spcAft>
                <a:spcPts val="5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Optimize constrained selections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600200"/>
            <a:ext cx="3611880" cy="438912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09560" y="1600200"/>
            <a:ext cx="50292" cy="4389120"/>
          </a:xfrm>
          <a:prstGeom prst="roundRect">
            <a:avLst>
              <a:gd name="adj" fmla="val 12000"/>
            </a:avLst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0728" y="1764792"/>
            <a:ext cx="324612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MEDIAMINE'S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8" y="2167128"/>
            <a:ext cx="3013133" cy="282538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Instead of applying one generic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 technique, </a:t>
            </a:r>
            <a:r>
              <a:rPr sz="1500" b="0" dirty="0" err="1">
                <a:solidFill>
                  <a:srgbClr val="B2BED7"/>
                </a:solidFill>
                <a:latin typeface="Aptos"/>
              </a:rPr>
              <a:t>MediaMine</a:t>
            </a:r>
            <a:r>
              <a:rPr sz="1500" b="0" dirty="0">
                <a:solidFill>
                  <a:srgbClr val="B2BED7"/>
                </a:solidFill>
                <a:latin typeface="Aptos"/>
              </a:rPr>
              <a:t> maps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 each problem to a specialized DSA.
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endParaRPr lang="en-US" sz="150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
Result:
SEARCH → 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INDEX →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 COMPARE → 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OPTIMIZE → </a:t>
            </a:r>
            <a:endParaRPr lang="en-US" sz="15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500" b="0" dirty="0">
                <a:solidFill>
                  <a:srgbClr val="B2BED7"/>
                </a:solidFill>
                <a:latin typeface="Aptos"/>
              </a:rPr>
              <a:t>ANALYZE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-320040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731520" y="6217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41E7A4"/>
                </a:solidFill>
                <a:latin typeface="Aptos"/>
              </a:rPr>
              <a:t>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515600" cy="5486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Purpose &amp;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B2BED7"/>
                </a:solidFill>
                <a:latin typeface="Aptos"/>
              </a:rPr>
              <a:t>03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B2BED7"/>
                </a:solidFill>
                <a:latin typeface="Aptos"/>
              </a:rPr>
              <a:t>MEDIAMINE  •  REVIEW–1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27632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50292" cy="1664208"/>
          </a:xfrm>
          <a:prstGeom prst="roundRect">
            <a:avLst>
              <a:gd name="adj" fmla="val 12000"/>
            </a:avLst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1792224"/>
            <a:ext cx="3090672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Efficient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194560"/>
            <a:ext cx="3090672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2BED7"/>
                </a:solidFill>
                <a:latin typeface="Aptos"/>
              </a:rPr>
              <a:t>Find keywords and patterns in articles and transcripts.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62072"/>
            <a:ext cx="4114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EDCFF"/>
                </a:solidFill>
                <a:latin typeface="Aptos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1627632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53128" y="1627632"/>
            <a:ext cx="50292" cy="1664208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54296" y="1792224"/>
            <a:ext cx="3090672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Intelligent Indexing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2194560"/>
            <a:ext cx="3090672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2BED7"/>
                </a:solidFill>
                <a:latin typeface="Aptos"/>
              </a:rPr>
              <a:t>Organize long text for fast substring retrieval.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862072"/>
            <a:ext cx="4114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9768FF"/>
                </a:solidFill>
                <a:latin typeface="Aptos"/>
              </a:rP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1627632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47888" y="1627632"/>
            <a:ext cx="50292" cy="1664208"/>
          </a:xfrm>
          <a:prstGeom prst="roundRect">
            <a:avLst>
              <a:gd name="adj" fmla="val 12000"/>
            </a:avLst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49056" y="1792224"/>
            <a:ext cx="3090672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Content Similarity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2194560"/>
            <a:ext cx="3090672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2BED7"/>
                </a:solidFill>
                <a:latin typeface="Aptos"/>
              </a:rPr>
              <a:t>Identify common phrases and related documents.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2862072"/>
            <a:ext cx="4114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F56B1"/>
                </a:solidFill>
                <a:latin typeface="Aptos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85032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8368" y="3685032"/>
            <a:ext cx="50292" cy="1664208"/>
          </a:xfrm>
          <a:prstGeom prst="roundRect">
            <a:avLst>
              <a:gd name="adj" fmla="val 12000"/>
            </a:avLst>
          </a:prstGeom>
          <a:solidFill>
            <a:srgbClr val="FFCC4D"/>
          </a:solidFill>
          <a:ln>
            <a:solidFill>
              <a:srgbClr val="FF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3849624"/>
            <a:ext cx="3090672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Query Correction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251960"/>
            <a:ext cx="3090672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2BED7"/>
                </a:solidFill>
                <a:latin typeface="Aptos"/>
              </a:rPr>
              <a:t>Handle spelling and recognition errors.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4919472"/>
            <a:ext cx="4114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FCC4D"/>
                </a:solidFill>
                <a:latin typeface="Aptos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53128" y="3685032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453128" y="3685032"/>
            <a:ext cx="50292" cy="1664208"/>
          </a:xfrm>
          <a:prstGeom prst="roundRect">
            <a:avLst>
              <a:gd name="adj" fmla="val 12000"/>
            </a:avLst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54296" y="3849624"/>
            <a:ext cx="3090672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Content Selection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4296" y="4251960"/>
            <a:ext cx="3090672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2BED7"/>
                </a:solidFill>
                <a:latin typeface="Aptos"/>
              </a:rPr>
              <a:t>Optimize category combinations under constraints.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54296" y="4919472"/>
            <a:ext cx="4114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41E7A4"/>
                </a:solidFill>
                <a:latin typeface="Aptos"/>
              </a:rPr>
              <a:t>05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47888" y="3685032"/>
            <a:ext cx="3456432" cy="1664208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247888" y="3685032"/>
            <a:ext cx="50292" cy="1664208"/>
          </a:xfrm>
          <a:prstGeom prst="roundRect">
            <a:avLst>
              <a:gd name="adj" fmla="val 12000"/>
            </a:avLst>
          </a:prstGeom>
          <a:solidFill>
            <a:srgbClr val="FF8940"/>
          </a:solidFill>
          <a:ln>
            <a:solidFill>
              <a:srgbClr val="FF8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49056" y="3849624"/>
            <a:ext cx="3090672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Media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49056" y="4251960"/>
            <a:ext cx="3090672" cy="10058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2BED7"/>
                </a:solidFill>
                <a:latin typeface="Aptos"/>
              </a:rPr>
              <a:t>Process continuous media-viewing and event data.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9056" y="4919472"/>
            <a:ext cx="4114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FF8940"/>
                </a:solidFill>
                <a:latin typeface="Aptos"/>
              </a:rPr>
              <a:t>06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870448"/>
            <a:ext cx="10899648" cy="393192"/>
          </a:xfrm>
          <a:prstGeom prst="roundRect">
            <a:avLst>
              <a:gd name="adj" fmla="val 12000"/>
            </a:avLst>
          </a:prstGeom>
          <a:solidFill>
            <a:srgbClr val="1F2B4C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5971032"/>
            <a:ext cx="1046988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KEY IDEA   •   Choose the algorithm that matches the computational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-320040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731520" y="6217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3EDCFF"/>
                </a:solidFill>
                <a:latin typeface="Aptos"/>
              </a:rPr>
              <a:t>FROM MEDIA TO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515600" cy="5486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Application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B2BED7"/>
                </a:solidFill>
                <a:latin typeface="Aptos"/>
              </a:rPr>
              <a:t>04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B2BED7"/>
                </a:solidFill>
                <a:latin typeface="Aptos"/>
              </a:rPr>
              <a:t>MEDIAMINE  •  REVIEW–1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1920240" cy="233172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0292" cy="2331720"/>
          </a:xfrm>
          <a:prstGeom prst="roundRect">
            <a:avLst>
              <a:gd name="adj" fmla="val 12000"/>
            </a:avLst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2313432"/>
            <a:ext cx="15544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715768"/>
            <a:ext cx="1554480" cy="167335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B2BED7"/>
                </a:solidFill>
                <a:latin typeface="Aptos"/>
              </a:rPr>
              <a:t>Articles
Transcripts
Videos
Captions</a:t>
            </a:r>
          </a:p>
        </p:txBody>
      </p:sp>
      <p:sp>
        <p:nvSpPr>
          <p:cNvPr id="14" name="Oval 13"/>
          <p:cNvSpPr/>
          <p:nvPr/>
        </p:nvSpPr>
        <p:spPr>
          <a:xfrm>
            <a:off x="1170432" y="1664208"/>
            <a:ext cx="566928" cy="566928"/>
          </a:xfrm>
          <a:prstGeom prst="ellipse">
            <a:avLst/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1682496"/>
            <a:ext cx="566928" cy="5486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A0F20"/>
                </a:solidFill>
                <a:latin typeface="Aptos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23160" y="3310128"/>
            <a:ext cx="411479" cy="0"/>
          </a:xfrm>
          <a:prstGeom prst="line">
            <a:avLst/>
          </a:prstGeom>
          <a:ln w="25400">
            <a:solidFill>
              <a:srgbClr val="B2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34639" y="2148840"/>
            <a:ext cx="1920240" cy="233172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834639" y="2148840"/>
            <a:ext cx="50292" cy="233172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35808" y="2313432"/>
            <a:ext cx="15544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PREPROCESS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2715768"/>
            <a:ext cx="1554480" cy="167335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B2BED7"/>
                </a:solidFill>
                <a:latin typeface="Aptos"/>
              </a:rPr>
              <a:t>Clean text
Normalize
Prepare data</a:t>
            </a:r>
          </a:p>
        </p:txBody>
      </p:sp>
      <p:sp>
        <p:nvSpPr>
          <p:cNvPr id="21" name="Oval 20"/>
          <p:cNvSpPr/>
          <p:nvPr/>
        </p:nvSpPr>
        <p:spPr>
          <a:xfrm>
            <a:off x="3502151" y="1664208"/>
            <a:ext cx="566928" cy="566928"/>
          </a:xfrm>
          <a:prstGeom prst="ellipse">
            <a:avLst/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02151" y="1682496"/>
            <a:ext cx="566928" cy="5486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A0F20"/>
                </a:solidFill>
                <a:latin typeface="Aptos"/>
              </a:rPr>
              <a:t>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54879" y="3310128"/>
            <a:ext cx="411480" cy="0"/>
          </a:xfrm>
          <a:prstGeom prst="line">
            <a:avLst/>
          </a:prstGeom>
          <a:ln w="25400">
            <a:solidFill>
              <a:srgbClr val="B2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66359" y="2148840"/>
            <a:ext cx="1920240" cy="233172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66359" y="2148840"/>
            <a:ext cx="50292" cy="2331720"/>
          </a:xfrm>
          <a:prstGeom prst="roundRect">
            <a:avLst>
              <a:gd name="adj" fmla="val 12000"/>
            </a:avLst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67527" y="2313432"/>
            <a:ext cx="15544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DSA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7527" y="2715768"/>
            <a:ext cx="1554480" cy="167335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B2BED7"/>
                </a:solidFill>
                <a:latin typeface="Aptos"/>
              </a:rPr>
              <a:t>Search
Index
Compare
Optimize</a:t>
            </a:r>
          </a:p>
        </p:txBody>
      </p:sp>
      <p:sp>
        <p:nvSpPr>
          <p:cNvPr id="28" name="Oval 27"/>
          <p:cNvSpPr/>
          <p:nvPr/>
        </p:nvSpPr>
        <p:spPr>
          <a:xfrm>
            <a:off x="5833871" y="1664208"/>
            <a:ext cx="566928" cy="566928"/>
          </a:xfrm>
          <a:prstGeom prst="ellipse">
            <a:avLst/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33871" y="1682496"/>
            <a:ext cx="566928" cy="5486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A0F20"/>
                </a:solidFill>
                <a:latin typeface="Aptos"/>
              </a:rPr>
              <a:t>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86600" y="3310128"/>
            <a:ext cx="411479" cy="0"/>
          </a:xfrm>
          <a:prstGeom prst="line">
            <a:avLst/>
          </a:prstGeom>
          <a:ln w="25400">
            <a:solidFill>
              <a:srgbClr val="B2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498079" y="2148840"/>
            <a:ext cx="1920240" cy="233172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498079" y="2148840"/>
            <a:ext cx="50292" cy="2331720"/>
          </a:xfrm>
          <a:prstGeom prst="roundRect">
            <a:avLst>
              <a:gd name="adj" fmla="val 12000"/>
            </a:avLst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99248" y="2313432"/>
            <a:ext cx="15544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9248" y="2715768"/>
            <a:ext cx="1554480" cy="167335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B2BED7"/>
                </a:solidFill>
                <a:latin typeface="Aptos"/>
              </a:rPr>
              <a:t>Similarity
Selection
Events</a:t>
            </a:r>
          </a:p>
        </p:txBody>
      </p:sp>
      <p:sp>
        <p:nvSpPr>
          <p:cNvPr id="35" name="Oval 34"/>
          <p:cNvSpPr/>
          <p:nvPr/>
        </p:nvSpPr>
        <p:spPr>
          <a:xfrm>
            <a:off x="8165592" y="1664208"/>
            <a:ext cx="566928" cy="566928"/>
          </a:xfrm>
          <a:prstGeom prst="ellipse">
            <a:avLst/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65592" y="1682496"/>
            <a:ext cx="566928" cy="5486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A0F20"/>
                </a:solidFill>
                <a:latin typeface="Aptos"/>
              </a:rPr>
              <a:t>4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418319" y="3310128"/>
            <a:ext cx="411481" cy="0"/>
          </a:xfrm>
          <a:prstGeom prst="line">
            <a:avLst/>
          </a:prstGeom>
          <a:ln w="25400">
            <a:solidFill>
              <a:srgbClr val="B2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829800" y="2148840"/>
            <a:ext cx="1920240" cy="233172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829800" y="2148840"/>
            <a:ext cx="50292" cy="2331720"/>
          </a:xfrm>
          <a:prstGeom prst="roundRect">
            <a:avLst>
              <a:gd name="adj" fmla="val 12000"/>
            </a:avLst>
          </a:prstGeom>
          <a:solidFill>
            <a:srgbClr val="FFCC4D"/>
          </a:solidFill>
          <a:ln>
            <a:solidFill>
              <a:srgbClr val="FF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30968" y="2313432"/>
            <a:ext cx="155448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30968" y="2715768"/>
            <a:ext cx="1554480" cy="167335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B2BED7"/>
                </a:solidFill>
                <a:latin typeface="Aptos"/>
              </a:rPr>
              <a:t>Matches
Insights
Results</a:t>
            </a:r>
          </a:p>
        </p:txBody>
      </p:sp>
      <p:sp>
        <p:nvSpPr>
          <p:cNvPr id="42" name="Oval 41"/>
          <p:cNvSpPr/>
          <p:nvPr/>
        </p:nvSpPr>
        <p:spPr>
          <a:xfrm>
            <a:off x="10497312" y="1664208"/>
            <a:ext cx="566928" cy="566928"/>
          </a:xfrm>
          <a:prstGeom prst="ellipse">
            <a:avLst/>
          </a:prstGeom>
          <a:solidFill>
            <a:srgbClr val="FFCC4D"/>
          </a:solidFill>
          <a:ln>
            <a:solidFill>
              <a:srgbClr val="FF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497312" y="1682496"/>
            <a:ext cx="566928" cy="5486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A0F20"/>
                </a:solidFill>
                <a:latin typeface="Apto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892040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2BED7"/>
                </a:solidFill>
                <a:latin typeface="Aptos"/>
              </a:rPr>
              <a:t>Media input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892040"/>
            <a:ext cx="27432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B2BED7"/>
                </a:solidFill>
                <a:latin typeface="Aptos"/>
              </a:rPr>
              <a:t>Algorithmic processing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4892040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2BED7"/>
                </a:solidFill>
                <a:latin typeface="Aptos"/>
              </a:rPr>
              <a:t>Actionable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-320040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731520" y="6217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3EDCFF"/>
                </a:solidFill>
                <a:latin typeface="Aptos"/>
              </a:rPr>
              <a:t>REQUIREMENT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515600" cy="5486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DSA → Application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B2BED7"/>
                </a:solidFill>
                <a:latin typeface="Aptos"/>
              </a:rPr>
              <a:t>05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B2BED7"/>
                </a:solidFill>
                <a:latin typeface="Aptos"/>
              </a:rPr>
              <a:t>MEDIAMINE  •  REVIEW–1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00200"/>
            <a:ext cx="2880360" cy="475488"/>
          </a:xfrm>
          <a:prstGeom prst="roundRect">
            <a:avLst>
              <a:gd name="adj" fmla="val 12000"/>
            </a:avLst>
          </a:prstGeom>
          <a:solidFill>
            <a:srgbClr val="1F2B4C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737360"/>
            <a:ext cx="2660904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MEDIA REQUIREMENT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600200"/>
            <a:ext cx="2286000" cy="475488"/>
          </a:xfrm>
          <a:prstGeom prst="roundRect">
            <a:avLst>
              <a:gd name="adj" fmla="val 12000"/>
            </a:avLst>
          </a:prstGeom>
          <a:solidFill>
            <a:srgbClr val="1F2B4C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1737360"/>
            <a:ext cx="2066543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ALGORITHM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600200"/>
            <a:ext cx="5257800" cy="475488"/>
          </a:xfrm>
          <a:prstGeom prst="roundRect">
            <a:avLst>
              <a:gd name="adj" fmla="val 12000"/>
            </a:avLst>
          </a:prstGeom>
          <a:solidFill>
            <a:srgbClr val="1F2B4C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54496" y="1737360"/>
            <a:ext cx="5038344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5F8FF"/>
                </a:solidFill>
                <a:latin typeface="Aptos"/>
              </a:rPr>
              <a:t>APPLICATION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176272"/>
            <a:ext cx="288036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11880" y="2176272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44768" y="2176272"/>
            <a:ext cx="52578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2267712"/>
            <a:ext cx="2651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Keyword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608" y="2267712"/>
            <a:ext cx="2057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3EDCFF"/>
                </a:solidFill>
                <a:latin typeface="Aptos"/>
              </a:rPr>
              <a:t>KMP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267712"/>
            <a:ext cx="49834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B2BED7"/>
                </a:solidFill>
                <a:latin typeface="Aptos"/>
              </a:rPr>
              <a:t>Articles / transcripts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651760"/>
            <a:ext cx="288036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611880" y="2651760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44768" y="2651760"/>
            <a:ext cx="52578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" y="2743200"/>
            <a:ext cx="2651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Repeated phrases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8" y="2743200"/>
            <a:ext cx="2057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9768FF"/>
                </a:solidFill>
                <a:latin typeface="Aptos"/>
              </a:rPr>
              <a:t>Z-Function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743200"/>
            <a:ext cx="49834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B2BED7"/>
                </a:solidFill>
                <a:latin typeface="Aptos"/>
              </a:rPr>
              <a:t>Prefix / repetition detection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127248"/>
            <a:ext cx="288036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611880" y="3127248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44768" y="3127248"/>
            <a:ext cx="52578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3218688"/>
            <a:ext cx="2651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Multiple topics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21608" y="3218688"/>
            <a:ext cx="2057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F56B1"/>
                </a:solidFill>
                <a:latin typeface="Aptos"/>
              </a:rPr>
              <a:t>Aho-Corasick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3218688"/>
            <a:ext cx="49834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B2BED7"/>
                </a:solidFill>
                <a:latin typeface="Aptos"/>
              </a:rPr>
              <a:t>Simultaneous keyword detection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3602736"/>
            <a:ext cx="288036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611880" y="3602736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144768" y="3602736"/>
            <a:ext cx="52578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3694176"/>
            <a:ext cx="2651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Transcript indexing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21608" y="3694176"/>
            <a:ext cx="2057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41E7A4"/>
                </a:solidFill>
                <a:latin typeface="Aptos"/>
              </a:rPr>
              <a:t>Suffix Array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54496" y="3694176"/>
            <a:ext cx="49834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B2BED7"/>
                </a:solidFill>
                <a:latin typeface="Aptos"/>
              </a:rPr>
              <a:t>Searchable text index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078224"/>
            <a:ext cx="288036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611880" y="4078224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144768" y="4078224"/>
            <a:ext cx="52578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6384" y="4169663"/>
            <a:ext cx="2651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Common phrases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21608" y="4169663"/>
            <a:ext cx="2057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FCC4D"/>
                </a:solidFill>
                <a:latin typeface="Aptos"/>
              </a:rPr>
              <a:t>LCP / Kasai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96" y="4169663"/>
            <a:ext cx="49834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B2BED7"/>
                </a:solidFill>
                <a:latin typeface="Aptos"/>
              </a:rPr>
              <a:t>Document similarity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4553712"/>
            <a:ext cx="288036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3611880" y="4553712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144768" y="4553712"/>
            <a:ext cx="52578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6384" y="4645152"/>
            <a:ext cx="2651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Query correction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21608" y="4645152"/>
            <a:ext cx="2057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F8940"/>
                </a:solidFill>
                <a:latin typeface="Aptos"/>
              </a:rPr>
              <a:t>Edit Distance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4496" y="4645152"/>
            <a:ext cx="49834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B2BED7"/>
                </a:solidFill>
                <a:latin typeface="Aptos"/>
              </a:rPr>
              <a:t>Search error handling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029200"/>
            <a:ext cx="288036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3611880" y="5029200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144768" y="5029200"/>
            <a:ext cx="52578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86384" y="5120640"/>
            <a:ext cx="2651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Sequence comparison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21608" y="5120640"/>
            <a:ext cx="2057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3EDCFF"/>
                </a:solidFill>
                <a:latin typeface="Aptos"/>
              </a:rPr>
              <a:t>Needleman / Smith-Waterman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54496" y="5120640"/>
            <a:ext cx="49834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B2BED7"/>
                </a:solidFill>
                <a:latin typeface="Aptos"/>
              </a:rPr>
              <a:t>Global / local alignment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" y="5504688"/>
            <a:ext cx="288036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3611880" y="5504688"/>
            <a:ext cx="22860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144768" y="5504688"/>
            <a:ext cx="5257800" cy="4114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86384" y="5596127"/>
            <a:ext cx="26517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Category selection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21608" y="5596127"/>
            <a:ext cx="20574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9768FF"/>
                </a:solidFill>
                <a:latin typeface="Aptos"/>
              </a:rPr>
              <a:t>Bitmask DP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4496" y="5596127"/>
            <a:ext cx="49834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B2BED7"/>
                </a:solidFill>
                <a:latin typeface="Aptos"/>
              </a:rPr>
              <a:t>Constraint-based combinations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-320040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731520" y="6217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FF56B1"/>
                </a:solidFill>
                <a:latin typeface="Aptos"/>
              </a:rPr>
              <a:t>FAST PATTERN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515600" cy="5486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Module 1 — String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B2BED7"/>
                </a:solidFill>
                <a:latin typeface="Aptos"/>
              </a:rPr>
              <a:t>06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B2BED7"/>
                </a:solidFill>
                <a:latin typeface="Aptos"/>
              </a:rPr>
              <a:t>MEDIAMINE  •  REVIEW–1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1938528" cy="347472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25880" y="2011680"/>
            <a:ext cx="603504" cy="603504"/>
          </a:xfrm>
          <a:prstGeom prst="ellipse">
            <a:avLst/>
          </a:prstGeom>
          <a:solidFill>
            <a:srgbClr val="B2BED7"/>
          </a:solidFill>
          <a:ln>
            <a:solidFill>
              <a:srgbClr val="B2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2029968"/>
            <a:ext cx="603504" cy="58521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A0F20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16002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NAÏVE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291840"/>
            <a:ext cx="1664208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B2BED7"/>
                </a:solidFill>
                <a:latin typeface="Aptos"/>
              </a:rPr>
              <a:t>O(nm) worst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977639"/>
            <a:ext cx="1609344" cy="9144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B2BED7"/>
                </a:solidFill>
                <a:latin typeface="Aptos"/>
              </a:rPr>
              <a:t>Baseline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71215" y="1783080"/>
            <a:ext cx="1938528" cy="347472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38727" y="2011680"/>
            <a:ext cx="603504" cy="603504"/>
          </a:xfrm>
          <a:prstGeom prst="ellipse">
            <a:avLst/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38727" y="2029968"/>
            <a:ext cx="603504" cy="58521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A0F20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788920"/>
            <a:ext cx="16002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KMP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8375" y="3291840"/>
            <a:ext cx="1664208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3EDCFF"/>
                </a:solidFill>
                <a:latin typeface="Aptos"/>
              </a:rPr>
              <a:t>O(n + 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977639"/>
            <a:ext cx="1609344" cy="9144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B2BED7"/>
                </a:solidFill>
                <a:latin typeface="Aptos"/>
              </a:rPr>
              <a:t>LPS avoids redundant comparisons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4064" y="1783080"/>
            <a:ext cx="1938528" cy="347472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751575" y="2011680"/>
            <a:ext cx="603504" cy="603504"/>
          </a:xfrm>
          <a:prstGeom prst="ellipse">
            <a:avLst/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51575" y="2029968"/>
            <a:ext cx="603504" cy="58521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A0F20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5" y="2788920"/>
            <a:ext cx="16002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Z-FUNCTION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3291840"/>
            <a:ext cx="1664208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9768FF"/>
                </a:solidFill>
                <a:latin typeface="Aptos"/>
              </a:rPr>
              <a:t>O(n)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8655" y="3977639"/>
            <a:ext cx="1609344" cy="9144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B2BED7"/>
                </a:solidFill>
                <a:latin typeface="Aptos"/>
              </a:rPr>
              <a:t>Prefix matching / repetition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6912" y="1783080"/>
            <a:ext cx="1938528" cy="347472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964423" y="2011680"/>
            <a:ext cx="603504" cy="603504"/>
          </a:xfrm>
          <a:prstGeom prst="ellipse">
            <a:avLst/>
          </a:prstGeom>
          <a:solidFill>
            <a:srgbClr val="FFCC4D"/>
          </a:solidFill>
          <a:ln>
            <a:solidFill>
              <a:srgbClr val="FF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64423" y="2029968"/>
            <a:ext cx="603504" cy="58521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A0F20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2788920"/>
            <a:ext cx="16002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RABIN-KARP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1" y="3291840"/>
            <a:ext cx="1664208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FFCC4D"/>
                </a:solidFill>
                <a:latin typeface="Aptos"/>
              </a:rPr>
              <a:t>O(n+m) avg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1504" y="3977639"/>
            <a:ext cx="1609344" cy="9144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B2BED7"/>
                </a:solidFill>
                <a:latin typeface="Aptos"/>
              </a:rPr>
              <a:t>Rolling hash search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1783080"/>
            <a:ext cx="1938528" cy="347472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177272" y="2011680"/>
            <a:ext cx="603504" cy="603504"/>
          </a:xfrm>
          <a:prstGeom prst="ellipse">
            <a:avLst/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77272" y="2029968"/>
            <a:ext cx="603504" cy="58521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0A0F20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2788920"/>
            <a:ext cx="16002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F5F8FF"/>
                </a:solidFill>
                <a:latin typeface="Aptos"/>
              </a:rPr>
              <a:t>AHO-CORASICK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3291840"/>
            <a:ext cx="1664208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FF56B1"/>
                </a:solidFill>
                <a:latin typeface="Aptos"/>
              </a:rPr>
              <a:t>O(text + matches)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3977639"/>
            <a:ext cx="1609344" cy="9144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B2BED7"/>
                </a:solidFill>
                <a:latin typeface="Aptos"/>
              </a:rPr>
              <a:t>Many patterns at once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96128"/>
            <a:ext cx="10881360" cy="530352"/>
          </a:xfrm>
          <a:prstGeom prst="roundRect">
            <a:avLst>
              <a:gd name="adj" fmla="val 12000"/>
            </a:avLst>
          </a:prstGeom>
          <a:solidFill>
            <a:srgbClr val="1F2B4C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5751576"/>
            <a:ext cx="104698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Why?  Specialized string algorithms reduce repeated comparisons and scale better for long media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-320040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731520" y="6217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9768FF"/>
                </a:solidFill>
                <a:latin typeface="Aptos"/>
              </a:rPr>
              <a:t>INDEXING &amp; SIMILARITY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515600" cy="5486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Module 2 — Suffix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B2BED7"/>
                </a:solidFill>
                <a:latin typeface="Aptos"/>
              </a:rPr>
              <a:t>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B2BED7"/>
                </a:solidFill>
                <a:latin typeface="Aptos"/>
              </a:rPr>
              <a:t>MEDIAMINE  •  REVIEW–1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27632"/>
            <a:ext cx="3429000" cy="4315968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50292" cy="4315968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1792224"/>
            <a:ext cx="306324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SUFFIX 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194560"/>
            <a:ext cx="3063240" cy="3657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B2BED7"/>
                </a:solidFill>
                <a:latin typeface="Aptos"/>
              </a:rPr>
              <a:t>Stores starting positions of all suffixes in sorted order.
Typical efficient construction: O(n log n)
Space: O(n)
USE
• Transcript indexing
• Substring search
• Lexicographic organization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627632"/>
            <a:ext cx="3429000" cy="4315968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70832" y="1627632"/>
            <a:ext cx="50292" cy="4315968"/>
          </a:xfrm>
          <a:prstGeom prst="roundRect">
            <a:avLst>
              <a:gd name="adj" fmla="val 12000"/>
            </a:avLst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1792224"/>
            <a:ext cx="306324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LCP / KASAI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94560"/>
            <a:ext cx="3063240" cy="3657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B2BED7"/>
                </a:solidFill>
                <a:latin typeface="Aptos"/>
              </a:rPr>
              <a:t>Computes the Longest Common Prefix between adjacent suffixes.
Time: O(n)
Space: O(n)
USE
• Common phrase detection
• Repeated content
• Report comparison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627632"/>
            <a:ext cx="3429000" cy="4315968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83296" y="1627632"/>
            <a:ext cx="50292" cy="4315968"/>
          </a:xfrm>
          <a:prstGeom prst="roundRect">
            <a:avLst>
              <a:gd name="adj" fmla="val 12000"/>
            </a:avLst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4464" y="1792224"/>
            <a:ext cx="306324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SUFFIX STRUCTURES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194560"/>
            <a:ext cx="3063240" cy="3657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B2BED7"/>
                </a:solidFill>
                <a:latin typeface="Aptos"/>
              </a:rPr>
              <a:t>Suffix Trees / Suffix Automata provide compact substring-oriented representations.
USE
• Retrieval
• Repeated substring analysis
• Fast occurrence-related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-320040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731520" y="6217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41E7A4"/>
                </a:solidFill>
                <a:latin typeface="Aptos"/>
              </a:rPr>
              <a:t>COMPARE &amp; 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515600" cy="5486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Module 3 — Advanced Dynamic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B2BED7"/>
                </a:solidFill>
                <a:latin typeface="Aptos"/>
              </a:rPr>
              <a:t>08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B2BED7"/>
                </a:solidFill>
                <a:latin typeface="Aptos"/>
              </a:rPr>
              <a:t>MEDIAMINE  •  REVIEW–1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5138928" cy="1847088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664208"/>
            <a:ext cx="50292" cy="1847088"/>
          </a:xfrm>
          <a:prstGeom prst="roundRect">
            <a:avLst>
              <a:gd name="adj" fmla="val 12000"/>
            </a:avLst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1828800"/>
            <a:ext cx="4773168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EDIT 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231136"/>
            <a:ext cx="4773168" cy="11887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B2BED7"/>
                </a:solidFill>
                <a:latin typeface="Aptos"/>
              </a:rPr>
              <a:t>Insert • Delete • Substitute
Query correction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936" y="1828800"/>
            <a:ext cx="15087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300" b="1">
                <a:solidFill>
                  <a:srgbClr val="3EDCFF"/>
                </a:solidFill>
                <a:latin typeface="Aptos"/>
              </a:rPr>
              <a:t>O(nm)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664208"/>
            <a:ext cx="5138928" cy="1847088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0488" y="1664208"/>
            <a:ext cx="50292" cy="1847088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91655" y="1828800"/>
            <a:ext cx="4773168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DAMERAU-LEV.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5" y="2231136"/>
            <a:ext cx="4773168" cy="11887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B2BED7"/>
                </a:solidFill>
                <a:latin typeface="Aptos"/>
              </a:rPr>
              <a:t>Adds adjacent transposition
Typing-error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2056" y="1828800"/>
            <a:ext cx="15087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300" b="1">
                <a:solidFill>
                  <a:srgbClr val="9768FF"/>
                </a:solidFill>
                <a:latin typeface="Aptos"/>
              </a:rPr>
              <a:t>O(nm) typical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04488"/>
            <a:ext cx="5138928" cy="1847088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8368" y="3904488"/>
            <a:ext cx="50292" cy="1847088"/>
          </a:xfrm>
          <a:prstGeom prst="roundRect">
            <a:avLst>
              <a:gd name="adj" fmla="val 12000"/>
            </a:avLst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4069080"/>
            <a:ext cx="4773168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NEEDLEMAN–WUNSCH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471416"/>
            <a:ext cx="4773168" cy="11887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B2BED7"/>
                </a:solidFill>
                <a:latin typeface="Aptos"/>
              </a:rPr>
              <a:t>Global sequence alignment
Compare complete sequences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9936" y="4069080"/>
            <a:ext cx="15087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300" b="1">
                <a:solidFill>
                  <a:srgbClr val="FF56B1"/>
                </a:solidFill>
                <a:latin typeface="Aptos"/>
              </a:rPr>
              <a:t>O(nm)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904488"/>
            <a:ext cx="5138928" cy="1847088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90488" y="3904488"/>
            <a:ext cx="50292" cy="1847088"/>
          </a:xfrm>
          <a:prstGeom prst="roundRect">
            <a:avLst>
              <a:gd name="adj" fmla="val 12000"/>
            </a:avLst>
          </a:prstGeom>
          <a:solidFill>
            <a:srgbClr val="FFCC4D"/>
          </a:solidFill>
          <a:ln>
            <a:solidFill>
              <a:srgbClr val="FF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91655" y="4069080"/>
            <a:ext cx="4773168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SMITH–WATERMAN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5" y="4471416"/>
            <a:ext cx="4773168" cy="11887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B2BED7"/>
                </a:solidFill>
                <a:latin typeface="Aptos"/>
              </a:rPr>
              <a:t>Local sequence alignment
Find best matching regions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4069080"/>
            <a:ext cx="15087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300" b="1">
                <a:solidFill>
                  <a:srgbClr val="FFCC4D"/>
                </a:solidFill>
                <a:latin typeface="Aptos"/>
              </a:rPr>
              <a:t>O(nm)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199632"/>
            <a:ext cx="10652760" cy="164592"/>
          </a:xfrm>
          <a:prstGeom prst="rect">
            <a:avLst/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4D"/>
          </a:solidFill>
          <a:ln>
            <a:solidFill>
              <a:srgbClr val="FF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-320040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FFCC4D"/>
          </a:solidFill>
          <a:ln>
            <a:solidFill>
              <a:srgbClr val="FF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731520" y="6217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FFCC4D"/>
                </a:solidFill>
                <a:latin typeface="Aptos"/>
              </a:rPr>
              <a:t>DECISION &amp;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515600" cy="5486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Optimization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B2BED7"/>
                </a:solidFill>
                <a:latin typeface="Aptos"/>
              </a:rPr>
              <a:t>09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B2BED7"/>
                </a:solidFill>
                <a:latin typeface="Aptos"/>
              </a:rPr>
              <a:t>MEDIAMINE  •  REVIEW–1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5074920" cy="434340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691640"/>
            <a:ext cx="50292" cy="434340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1856232"/>
            <a:ext cx="4709159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ptos"/>
              </a:rPr>
              <a:t>BITMASK 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258568"/>
            <a:ext cx="4709159" cy="3685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B2BED7"/>
                </a:solidFill>
                <a:latin typeface="Aptos"/>
              </a:rPr>
              <a:t>Represents a subset using bits.
Example:
001 = News
010 = Sports
100 = Technology
111 = all three
Typical complexity: O(2ⁿ · n)
Space: O(2ⁿ)
APPLICATION
Select valid combinations of media categories under constraints.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691640"/>
            <a:ext cx="5074920" cy="434340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16752" y="1691640"/>
            <a:ext cx="50292" cy="4343400"/>
          </a:xfrm>
          <a:prstGeom prst="roundRect">
            <a:avLst>
              <a:gd name="adj" fmla="val 12000"/>
            </a:avLst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856232"/>
            <a:ext cx="4709159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ptos"/>
              </a:rPr>
              <a:t>MATRIX-CHAIN MULTIPLICATION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58568"/>
            <a:ext cx="4709159" cy="3685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B2BED7"/>
                </a:solidFill>
                <a:latin typeface="Aptos"/>
              </a:rPr>
              <a:t>Finds an efficient order for multiplying a sequence of matrices.
Time: O(n³)
Space: O(n²)
APPLICATION
Model an efficient ordering of sequential media-processing operations.
KEY IDEA
Dynamic programming reuses overlapping subproblem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940"/>
          </a:solidFill>
          <a:ln>
            <a:solidFill>
              <a:srgbClr val="FF8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-320040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FF8940"/>
          </a:solidFill>
          <a:ln>
            <a:solidFill>
              <a:srgbClr val="FF8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731520" y="6217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FF8940"/>
                </a:solidFill>
                <a:latin typeface="Aptos"/>
              </a:rPr>
              <a:t>M1 → M6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515600" cy="5486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Extended MediaMine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B2BED7"/>
                </a:solidFill>
                <a:latin typeface="Aptos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B2BED7"/>
                </a:solidFill>
                <a:latin typeface="Aptos"/>
              </a:rPr>
              <a:t>MEDIAMINE  •  REVIEW–1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0574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60704" y="2267712"/>
            <a:ext cx="566928" cy="566928"/>
          </a:xfrm>
          <a:prstGeom prst="ellipse">
            <a:avLst/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2286000"/>
            <a:ext cx="566928" cy="5486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A0F20"/>
                </a:solidFill>
                <a:latin typeface="Aptos"/>
              </a:rPr>
              <a:t>M1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63240"/>
            <a:ext cx="1335024" cy="7315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STRING
ALGORITHMS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57984" y="3172968"/>
            <a:ext cx="292608" cy="0"/>
          </a:xfrm>
          <a:prstGeom prst="line">
            <a:avLst/>
          </a:prstGeom>
          <a:ln w="25400">
            <a:solidFill>
              <a:srgbClr val="B2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50592" y="20574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80944" y="2267712"/>
            <a:ext cx="566928" cy="566928"/>
          </a:xfrm>
          <a:prstGeom prst="ellipse">
            <a:avLst/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80944" y="2286000"/>
            <a:ext cx="566928" cy="5486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A0F20"/>
                </a:solidFill>
                <a:latin typeface="Aptos"/>
              </a:rPr>
              <a:t>M2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3063240"/>
            <a:ext cx="1335024" cy="7315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SUFFIX
STRUCTURES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78224" y="3172968"/>
            <a:ext cx="292608" cy="0"/>
          </a:xfrm>
          <a:prstGeom prst="line">
            <a:avLst/>
          </a:prstGeom>
          <a:ln w="25400">
            <a:solidFill>
              <a:srgbClr val="B2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70832" y="20574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901184" y="2267712"/>
            <a:ext cx="566928" cy="566928"/>
          </a:xfrm>
          <a:prstGeom prst="ellipse">
            <a:avLst/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01184" y="2286000"/>
            <a:ext cx="566928" cy="5486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A0F20"/>
                </a:solidFill>
                <a:latin typeface="Aptos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3063240"/>
            <a:ext cx="1335024" cy="7315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ADVANCED
DP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98464" y="3172968"/>
            <a:ext cx="292608" cy="0"/>
          </a:xfrm>
          <a:prstGeom prst="line">
            <a:avLst/>
          </a:prstGeom>
          <a:ln w="25400">
            <a:solidFill>
              <a:srgbClr val="B2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91072" y="20574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21424" y="2267712"/>
            <a:ext cx="566928" cy="566928"/>
          </a:xfrm>
          <a:prstGeom prst="ellipse">
            <a:avLst/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21424" y="2286000"/>
            <a:ext cx="566928" cy="5486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A0F20"/>
                </a:solidFill>
                <a:latin typeface="Aptos"/>
              </a:rPr>
              <a:t>M4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063240"/>
            <a:ext cx="1335024" cy="7315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NETWORK
FLOW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18704" y="3172968"/>
            <a:ext cx="292608" cy="0"/>
          </a:xfrm>
          <a:prstGeom prst="line">
            <a:avLst/>
          </a:prstGeom>
          <a:ln w="25400">
            <a:solidFill>
              <a:srgbClr val="B2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11312" y="20574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741664" y="2267712"/>
            <a:ext cx="566928" cy="566928"/>
          </a:xfrm>
          <a:prstGeom prst="ellipse">
            <a:avLst/>
          </a:prstGeom>
          <a:solidFill>
            <a:srgbClr val="FFCC4D"/>
          </a:solidFill>
          <a:ln>
            <a:solidFill>
              <a:srgbClr val="FF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41664" y="2286000"/>
            <a:ext cx="566928" cy="5486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A0F20"/>
                </a:solidFill>
                <a:latin typeface="Aptos"/>
              </a:rPr>
              <a:t>M5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3063240"/>
            <a:ext cx="1335024" cy="7315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NP /
APPROX.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38944" y="3172968"/>
            <a:ext cx="292608" cy="0"/>
          </a:xfrm>
          <a:prstGeom prst="line">
            <a:avLst/>
          </a:prstGeom>
          <a:ln w="25400">
            <a:solidFill>
              <a:srgbClr val="B2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131552" y="20574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661904" y="2267712"/>
            <a:ext cx="566928" cy="566928"/>
          </a:xfrm>
          <a:prstGeom prst="ellipse">
            <a:avLst/>
          </a:prstGeom>
          <a:solidFill>
            <a:srgbClr val="FF8940"/>
          </a:solidFill>
          <a:ln>
            <a:solidFill>
              <a:srgbClr val="FF8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61904" y="2286000"/>
            <a:ext cx="566928" cy="5486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A0F20"/>
                </a:solidFill>
                <a:latin typeface="Aptos"/>
              </a:rPr>
              <a:t>M6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77856" y="3063240"/>
            <a:ext cx="1335024" cy="7315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RANDOMIZED /
PARALLEL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11680" y="4892040"/>
            <a:ext cx="8138160" cy="594360"/>
          </a:xfrm>
          <a:prstGeom prst="roundRect">
            <a:avLst>
              <a:gd name="adj" fmla="val 12000"/>
            </a:avLst>
          </a:prstGeom>
          <a:solidFill>
            <a:srgbClr val="1F2B4C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94560" y="5074920"/>
            <a:ext cx="77724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5F8FF"/>
                </a:solidFill>
                <a:latin typeface="Aptos"/>
              </a:rPr>
              <a:t>Unified Java interface  →  independent algorithm modules  →  testable demonstrations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8940"/>
                </a:solidFill>
                <a:latin typeface="Aptos"/>
              </a:rPr>
              <a:t>Note: present only the specific M4–M6 algorithms that are actually implemented in your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-320040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731520" y="6217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3EDCFF"/>
                </a:solidFill>
                <a:latin typeface="Aptos"/>
              </a:rPr>
              <a:t>JAVA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515600" cy="5486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Implementation &amp; Project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B2BED7"/>
                </a:solidFill>
                <a:latin typeface="Aptos"/>
              </a:rPr>
              <a:t>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B2BED7"/>
                </a:solidFill>
                <a:latin typeface="Aptos"/>
              </a:rPr>
              <a:t>MEDIAMINE  •  REVIEW–1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27632"/>
            <a:ext cx="3749039" cy="448056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1627632"/>
            <a:ext cx="50292" cy="4480560"/>
          </a:xfrm>
          <a:prstGeom prst="roundRect">
            <a:avLst>
              <a:gd name="adj" fmla="val 12000"/>
            </a:avLst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792224"/>
            <a:ext cx="3383279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94560"/>
            <a:ext cx="3383279" cy="3822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B2BED7"/>
                </a:solidFill>
                <a:latin typeface="Aptos"/>
              </a:rPr>
              <a:t>LANGUAGE
Java
STRUCTURE
Modular packages for M1–M6
EXECUTION
Main.java provides a unified module-selection interface.
VALIDATION
SelfTest.java supports algorithm demonstrations.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5152" y="1627632"/>
            <a:ext cx="6812280" cy="448056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1856231"/>
            <a:ext cx="2743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MediaMine/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267712"/>
            <a:ext cx="612648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B2BED7"/>
                </a:solidFill>
                <a:latin typeface="Aptos"/>
              </a:rPr>
              <a:t>├── src/mediamine/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532888"/>
            <a:ext cx="612648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B2BED7"/>
                </a:solidFill>
                <a:latin typeface="Aptos"/>
              </a:rPr>
              <a:t>│   ├── m1_strings/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798064"/>
            <a:ext cx="612648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B2BED7"/>
                </a:solidFill>
                <a:latin typeface="Aptos"/>
              </a:rPr>
              <a:t>│   ├── m2_suffix/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063239"/>
            <a:ext cx="612648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B2BED7"/>
                </a:solidFill>
                <a:latin typeface="Aptos"/>
              </a:rPr>
              <a:t>│   ├── m3_dp/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328415"/>
            <a:ext cx="612648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B2BED7"/>
                </a:solidFill>
                <a:latin typeface="Aptos"/>
              </a:rPr>
              <a:t>│   ├── m4_flow/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593591"/>
            <a:ext cx="612648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B2BED7"/>
                </a:solidFill>
                <a:latin typeface="Aptos"/>
              </a:rPr>
              <a:t>│   ├── m5_np/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858768"/>
            <a:ext cx="612648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B2BED7"/>
                </a:solidFill>
                <a:latin typeface="Aptos"/>
              </a:rPr>
              <a:t>│   ├── m6_parallel/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123944"/>
            <a:ext cx="612648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B2BED7"/>
                </a:solidFill>
                <a:latin typeface="Aptos"/>
              </a:rPr>
              <a:t>│   └── model/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389120"/>
            <a:ext cx="612648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B2BED7"/>
                </a:solidFill>
                <a:latin typeface="Aptos"/>
              </a:rPr>
              <a:t>├── Main.java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654296"/>
            <a:ext cx="612648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B2BED7"/>
                </a:solidFill>
                <a:latin typeface="Aptos"/>
              </a:rPr>
              <a:t>├── SelfTest.java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919472"/>
            <a:ext cx="612648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B2BED7"/>
                </a:solidFill>
                <a:latin typeface="Aptos"/>
              </a:rPr>
              <a:t>├── README.md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5184648"/>
            <a:ext cx="612648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B2BED7"/>
                </a:solidFill>
                <a:latin typeface="Aptos"/>
              </a:rPr>
              <a:t>└── out/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245352"/>
            <a:ext cx="10808208" cy="201168"/>
          </a:xfrm>
          <a:prstGeom prst="rect">
            <a:avLst/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-320040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731520" y="6217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41E7A4"/>
                </a:solidFill>
                <a:latin typeface="Aptos"/>
              </a:rPr>
              <a:t>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515600" cy="5486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Test Cases &amp;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B2BED7"/>
                </a:solidFill>
                <a:latin typeface="Aptos"/>
              </a:rPr>
              <a:t>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B2BED7"/>
                </a:solidFill>
                <a:latin typeface="Aptos"/>
              </a:rPr>
              <a:t>MEDIAMINE  •  REVIEW–1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27632"/>
            <a:ext cx="10789920" cy="68580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755648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A0F20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1792224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  <a:latin typeface="Aptos"/>
              </a:rPr>
              <a:t>KMP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737360"/>
            <a:ext cx="438912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2BED7"/>
                </a:solidFill>
                <a:latin typeface="Aptos"/>
              </a:rPr>
              <a:t>ABABDABACDABABCABAB
+ ABABCABAB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792224"/>
            <a:ext cx="26517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3EDCFF"/>
                </a:solidFill>
                <a:latin typeface="Aptos"/>
              </a:rPr>
              <a:t>Pattern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478024"/>
            <a:ext cx="10789920" cy="68580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2587752"/>
            <a:ext cx="457200" cy="457200"/>
          </a:xfrm>
          <a:prstGeom prst="ellipse">
            <a:avLst/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606040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A0F20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2642616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  <a:latin typeface="Aptos"/>
              </a:rPr>
              <a:t>EDIT DISTANCE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587752"/>
            <a:ext cx="438912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2BED7"/>
                </a:solidFill>
                <a:latin typeface="Aptos"/>
              </a:rPr>
              <a:t>kitten → sitting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642616"/>
            <a:ext cx="26517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9768FF"/>
                </a:solidFill>
                <a:latin typeface="Aptos"/>
              </a:rPr>
              <a:t>Distance =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328416"/>
            <a:ext cx="10789920" cy="68580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" y="3438144"/>
            <a:ext cx="457200" cy="457200"/>
          </a:xfrm>
          <a:prstGeom prst="ellipse">
            <a:avLst/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456432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A0F20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3493008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  <a:latin typeface="Aptos"/>
              </a:rPr>
              <a:t>AHO-CORASICK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438144"/>
            <a:ext cx="438912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2BED7"/>
                </a:solidFill>
                <a:latin typeface="Aptos"/>
              </a:rPr>
              <a:t>he • she • his • hers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493008"/>
            <a:ext cx="26517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FF56B1"/>
                </a:solidFill>
                <a:latin typeface="Aptos"/>
              </a:rPr>
              <a:t>Multiple matches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178808"/>
            <a:ext cx="10789920" cy="68580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4400" y="4288536"/>
            <a:ext cx="457200" cy="457200"/>
          </a:xfrm>
          <a:prstGeom prst="ellipse">
            <a:avLst/>
          </a:prstGeom>
          <a:solidFill>
            <a:srgbClr val="FFCC4D"/>
          </a:solidFill>
          <a:ln>
            <a:solidFill>
              <a:srgbClr val="FF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306824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A0F20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  <a:latin typeface="Aptos"/>
              </a:rPr>
              <a:t>ALIGNMENT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4288536"/>
            <a:ext cx="438912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2BED7"/>
                </a:solidFill>
                <a:latin typeface="Aptos"/>
              </a:rPr>
              <a:t>Two text / sequences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343400"/>
            <a:ext cx="26517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FFCC4D"/>
                </a:solidFill>
                <a:latin typeface="Aptos"/>
              </a:rPr>
              <a:t>Global or local alignment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029200"/>
            <a:ext cx="10789920" cy="68580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14400" y="5138928"/>
            <a:ext cx="457200" cy="457200"/>
          </a:xfrm>
          <a:prstGeom prst="ellipse">
            <a:avLst/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157216"/>
            <a:ext cx="457200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0A0F20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6192" y="5193792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  <a:latin typeface="Aptos"/>
              </a:rPr>
              <a:t>BITMASK DP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5138928"/>
            <a:ext cx="438912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B2BED7"/>
                </a:solidFill>
                <a:latin typeface="Aptos"/>
              </a:rPr>
              <a:t>Category combinations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5193792"/>
            <a:ext cx="26517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41E7A4"/>
                </a:solidFill>
                <a:latin typeface="Aptos"/>
              </a:rPr>
              <a:t>Optimal valid subset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989320"/>
            <a:ext cx="10789920" cy="384048"/>
          </a:xfrm>
          <a:prstGeom prst="roundRect">
            <a:avLst>
              <a:gd name="adj" fmla="val 12000"/>
            </a:avLst>
          </a:prstGeom>
          <a:solidFill>
            <a:srgbClr val="1F2B4C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6089904"/>
            <a:ext cx="1033272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50" b="1">
                <a:solidFill>
                  <a:srgbClr val="F5F8FF"/>
                </a:solidFill>
                <a:latin typeface="Aptos"/>
              </a:rPr>
              <a:t>Presentation tip: show 2–3 real screenshots from your Java terminal here instead of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-320040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731520" y="6217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FF56B1"/>
                </a:solidFill>
                <a:latin typeface="Aptos"/>
              </a:rPr>
              <a:t>TIME &amp;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515600" cy="5486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Complexity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B2BED7"/>
                </a:solidFill>
                <a:latin typeface="Aptos"/>
              </a:rPr>
              <a:t>13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B2BED7"/>
                </a:solidFill>
                <a:latin typeface="Aptos"/>
              </a:rPr>
              <a:t>MEDIAMINE  •  REVIEW–1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3364992" cy="713232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682495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Naïve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2576" y="1682495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19" b="1">
                <a:solidFill>
                  <a:srgbClr val="3EDCFF"/>
                </a:solidFill>
                <a:latin typeface="Aptos"/>
              </a:rPr>
              <a:t>O(nm)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2576" y="1956816"/>
            <a:ext cx="148132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19" b="0">
                <a:solidFill>
                  <a:srgbClr val="B2BED7"/>
                </a:solidFill>
                <a:latin typeface="Aptos"/>
              </a:rPr>
              <a:t>O(1)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572768"/>
            <a:ext cx="3364992" cy="713232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682495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KMP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5896" y="1682495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19" b="1">
                <a:solidFill>
                  <a:srgbClr val="3EDCFF"/>
                </a:solidFill>
                <a:latin typeface="Aptos"/>
              </a:rPr>
              <a:t>O(n + 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5896" y="1956816"/>
            <a:ext cx="148132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19" b="0">
                <a:solidFill>
                  <a:srgbClr val="B2BED7"/>
                </a:solidFill>
                <a:latin typeface="Aptos"/>
              </a:rPr>
              <a:t>O(m)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572768"/>
            <a:ext cx="3364992" cy="713232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1682495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Z-Function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9216" y="1682495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19" b="1">
                <a:solidFill>
                  <a:srgbClr val="3EDCFF"/>
                </a:solidFill>
                <a:latin typeface="Aptos"/>
              </a:rPr>
              <a:t>O(n)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9216" y="1956816"/>
            <a:ext cx="148132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19" b="0">
                <a:solidFill>
                  <a:srgbClr val="B2BED7"/>
                </a:solidFill>
                <a:latin typeface="Aptos"/>
              </a:rPr>
              <a:t>O(n)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478024"/>
            <a:ext cx="3364992" cy="713232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2587752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Rabin-Karp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2576" y="2587752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19" b="1">
                <a:solidFill>
                  <a:srgbClr val="3EDCFF"/>
                </a:solidFill>
                <a:latin typeface="Aptos"/>
              </a:rPr>
              <a:t>O(n+m) avg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2576" y="2862072"/>
            <a:ext cx="148132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19" b="0">
                <a:solidFill>
                  <a:srgbClr val="B2BED7"/>
                </a:solidFill>
                <a:latin typeface="Aptos"/>
              </a:rPr>
              <a:t>O(1)*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2478024"/>
            <a:ext cx="3364992" cy="713232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07992" y="2587752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Aho-Corasick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5896" y="2587752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19" b="1">
                <a:solidFill>
                  <a:srgbClr val="3EDCFF"/>
                </a:solidFill>
                <a:latin typeface="Aptos"/>
              </a:rPr>
              <a:t>O(text + matches)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25896" y="2862072"/>
            <a:ext cx="148132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19" b="0">
                <a:solidFill>
                  <a:srgbClr val="B2BED7"/>
                </a:solidFill>
                <a:latin typeface="Aptos"/>
              </a:rPr>
              <a:t>O(total patterns)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2478024"/>
            <a:ext cx="3364992" cy="713232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11312" y="2587752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Suffix Array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2587752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19" b="1">
                <a:solidFill>
                  <a:srgbClr val="3EDCFF"/>
                </a:solidFill>
                <a:latin typeface="Aptos"/>
              </a:rPr>
              <a:t>O(n log n)†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9216" y="2862072"/>
            <a:ext cx="148132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19" b="0">
                <a:solidFill>
                  <a:srgbClr val="B2BED7"/>
                </a:solidFill>
                <a:latin typeface="Aptos"/>
              </a:rPr>
              <a:t>O(n)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3383280"/>
            <a:ext cx="3364992" cy="713232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3493008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Kasai / LCP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22576" y="3493008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19" b="1">
                <a:solidFill>
                  <a:srgbClr val="3EDCFF"/>
                </a:solidFill>
                <a:latin typeface="Aptos"/>
              </a:rPr>
              <a:t>O(n)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22576" y="3767328"/>
            <a:ext cx="148132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19" b="0">
                <a:solidFill>
                  <a:srgbClr val="B2BED7"/>
                </a:solidFill>
                <a:latin typeface="Aptos"/>
              </a:rPr>
              <a:t>O(n)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61688" y="3383280"/>
            <a:ext cx="3364992" cy="713232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07992" y="3493008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Edit Distance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25896" y="3493008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19" b="1">
                <a:solidFill>
                  <a:srgbClr val="3EDCFF"/>
                </a:solidFill>
                <a:latin typeface="Aptos"/>
              </a:rPr>
              <a:t>O(nm)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25896" y="3767328"/>
            <a:ext cx="148132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19" b="0">
                <a:solidFill>
                  <a:srgbClr val="B2BED7"/>
                </a:solidFill>
                <a:latin typeface="Aptos"/>
              </a:rPr>
              <a:t>O(nm)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65008" y="3383280"/>
            <a:ext cx="3364992" cy="713232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11312" y="3493008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Needleman-Wunsch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29216" y="3493008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19" b="1">
                <a:solidFill>
                  <a:srgbClr val="3EDCFF"/>
                </a:solidFill>
                <a:latin typeface="Aptos"/>
              </a:rPr>
              <a:t>O(nm)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29216" y="3767328"/>
            <a:ext cx="148132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19" b="0">
                <a:solidFill>
                  <a:srgbClr val="B2BED7"/>
                </a:solidFill>
                <a:latin typeface="Aptos"/>
              </a:rPr>
              <a:t>O(nm)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4288536"/>
            <a:ext cx="3364992" cy="713232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2" y="4398264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Smith-Waterman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2576" y="4398264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19" b="1">
                <a:solidFill>
                  <a:srgbClr val="3EDCFF"/>
                </a:solidFill>
                <a:latin typeface="Aptos"/>
              </a:rPr>
              <a:t>O(nm)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2576" y="4672583"/>
            <a:ext cx="148132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19" b="0">
                <a:solidFill>
                  <a:srgbClr val="B2BED7"/>
                </a:solidFill>
                <a:latin typeface="Aptos"/>
              </a:rPr>
              <a:t>O(nm)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61688" y="4288536"/>
            <a:ext cx="3364992" cy="713232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07992" y="4398264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Bitmask DP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25896" y="4398264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19" b="1">
                <a:solidFill>
                  <a:srgbClr val="3EDCFF"/>
                </a:solidFill>
                <a:latin typeface="Aptos"/>
              </a:rPr>
              <a:t>O(2ⁿn)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25896" y="4672583"/>
            <a:ext cx="148132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19" b="0">
                <a:solidFill>
                  <a:srgbClr val="B2BED7"/>
                </a:solidFill>
                <a:latin typeface="Aptos"/>
              </a:rPr>
              <a:t>O(2ⁿ)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65008" y="4288536"/>
            <a:ext cx="3364992" cy="713232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8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11312" y="4398264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F5F8FF"/>
                </a:solidFill>
                <a:latin typeface="Aptos"/>
              </a:rPr>
              <a:t>Matrix-Chain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29216" y="4398264"/>
            <a:ext cx="1481328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19" b="1">
                <a:solidFill>
                  <a:srgbClr val="3EDCFF"/>
                </a:solidFill>
                <a:latin typeface="Aptos"/>
              </a:rPr>
              <a:t>O(n³)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29216" y="4672583"/>
            <a:ext cx="148132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19" b="0">
                <a:solidFill>
                  <a:srgbClr val="B2BED7"/>
                </a:solidFill>
                <a:latin typeface="Aptos"/>
              </a:rPr>
              <a:t>O(n²)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080760"/>
            <a:ext cx="1069848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0">
                <a:solidFill>
                  <a:srgbClr val="B2BED7"/>
                </a:solidFill>
                <a:latin typeface="Aptos"/>
              </a:rPr>
              <a:t>† Construction complexity depends on the suffix-array construction method.  •  *Hash collisions affect worst-case behavior.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-320040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731520" y="621792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3EDCFF"/>
                </a:solidFill>
                <a:latin typeface="Aptos"/>
              </a:rPr>
              <a:t>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515600" cy="5486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Results, Contribution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65760"/>
            <a:ext cx="502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B2BED7"/>
                </a:solidFill>
                <a:latin typeface="Aptos"/>
              </a:rPr>
              <a:t>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307592"/>
            <a:ext cx="11000232" cy="0"/>
          </a:xfrm>
          <a:prstGeom prst="line">
            <a:avLst/>
          </a:prstGeom>
          <a:ln w="12700">
            <a:solidFill>
              <a:srgbClr val="1F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B2BED7"/>
                </a:solidFill>
                <a:latin typeface="Aptos"/>
              </a:rPr>
              <a:t>MEDIAMINE  •  REVIEW–1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27632"/>
            <a:ext cx="3657600" cy="45262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1627632"/>
            <a:ext cx="50292" cy="4526280"/>
          </a:xfrm>
          <a:prstGeom prst="roundRect">
            <a:avLst>
              <a:gd name="adj" fmla="val 12000"/>
            </a:avLst>
          </a:prstGeom>
          <a:solidFill>
            <a:srgbClr val="41E7A4"/>
          </a:solidFill>
          <a:ln>
            <a:solidFill>
              <a:srgbClr val="41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792224"/>
            <a:ext cx="3364993" cy="5786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 dirty="0">
                <a:solidFill>
                  <a:srgbClr val="F5F8FF"/>
                </a:solidFill>
                <a:latin typeface="Aptos"/>
              </a:rPr>
              <a:t>WHAT MEDIAMINE</a:t>
            </a:r>
            <a:r>
              <a:rPr lang="en-US" sz="1700" b="1" dirty="0">
                <a:solidFill>
                  <a:srgbClr val="F5F8FF"/>
                </a:solidFill>
                <a:latin typeface="Aptos"/>
              </a:rPr>
              <a:t> </a:t>
            </a:r>
            <a:r>
              <a:rPr sz="1700" b="1" dirty="0">
                <a:solidFill>
                  <a:srgbClr val="F5F8FF"/>
                </a:solidFill>
                <a:latin typeface="Aptos"/>
              </a:rPr>
              <a:t>DEMONSTRATES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94560"/>
            <a:ext cx="2495042" cy="225600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endParaRPr lang="en-US" sz="1300" b="0" dirty="0">
              <a:solidFill>
                <a:srgbClr val="B2BED7"/>
              </a:solidFill>
              <a:latin typeface="Aptos"/>
            </a:endParaRPr>
          </a:p>
          <a:p>
            <a:pPr algn="l"/>
            <a:endParaRPr lang="en-US" sz="1300" dirty="0">
              <a:solidFill>
                <a:srgbClr val="B2BED7"/>
              </a:solidFill>
              <a:latin typeface="Aptos"/>
            </a:endParaRPr>
          </a:p>
          <a:p>
            <a:pPr algn="l"/>
            <a:endParaRPr lang="en-US" sz="13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B2BED7"/>
                </a:solidFill>
                <a:latin typeface="Aptos"/>
              </a:rPr>
              <a:t>✓ Efficient keyword search
✓ Structured text indexing
✓ Document / transcript similarity
✓ Search-query correction
✓ Sequence alignment
✓ Constraint-based selection
✓ Algorithmic optimization
✓ Modular Java 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627632"/>
            <a:ext cx="3246120" cy="45262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26280" y="1627632"/>
            <a:ext cx="50292" cy="4526280"/>
          </a:xfrm>
          <a:prstGeom prst="roundRect">
            <a:avLst>
              <a:gd name="adj" fmla="val 12000"/>
            </a:avLst>
          </a:prstGeom>
          <a:solidFill>
            <a:srgbClr val="9768FF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27448" y="1792224"/>
            <a:ext cx="288036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TEAM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194560"/>
            <a:ext cx="2606163" cy="2055947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 dirty="0">
                <a:solidFill>
                  <a:srgbClr val="B2BED7"/>
                </a:solidFill>
                <a:latin typeface="Aptos"/>
              </a:rPr>
              <a:t>
String algorithms / M1</a:t>
            </a:r>
            <a:r>
              <a:rPr lang="en-US" sz="1300" b="0" dirty="0">
                <a:solidFill>
                  <a:srgbClr val="B2BED7"/>
                </a:solidFill>
                <a:latin typeface="Aptos"/>
              </a:rPr>
              <a:t>- 2500031987</a:t>
            </a:r>
            <a:r>
              <a:rPr sz="1300" b="0" dirty="0">
                <a:solidFill>
                  <a:srgbClr val="B2BED7"/>
                </a:solidFill>
                <a:latin typeface="Aptos"/>
              </a:rPr>
              <a:t>
Suffix structures / M2</a:t>
            </a:r>
            <a:r>
              <a:rPr lang="en-US" sz="1300" b="0" dirty="0">
                <a:solidFill>
                  <a:srgbClr val="B2BED7"/>
                </a:solidFill>
                <a:latin typeface="Aptos"/>
              </a:rPr>
              <a:t> - 2500030874</a:t>
            </a:r>
            <a:r>
              <a:rPr sz="1300" b="0" dirty="0">
                <a:solidFill>
                  <a:srgbClr val="B2BED7"/>
                </a:solidFill>
                <a:latin typeface="Aptos"/>
              </a:rPr>
              <a:t>
Dynamic programming / M3
</a:t>
            </a:r>
            <a:r>
              <a:rPr lang="en-US" sz="1300" b="0" dirty="0">
                <a:solidFill>
                  <a:srgbClr val="B2BED7"/>
                </a:solidFill>
                <a:latin typeface="Aptos"/>
              </a:rPr>
              <a:t> - 2500030874 &amp; 2500030874</a:t>
            </a:r>
            <a:r>
              <a:rPr sz="1300" b="0" dirty="0">
                <a:solidFill>
                  <a:srgbClr val="B2BED7"/>
                </a:solidFill>
                <a:latin typeface="Aptos"/>
              </a:rPr>
              <a:t>
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627632"/>
            <a:ext cx="3474720" cy="4526280"/>
          </a:xfrm>
          <a:prstGeom prst="roundRect">
            <a:avLst>
              <a:gd name="adj" fmla="val 12000"/>
            </a:avLst>
          </a:prstGeom>
          <a:solidFill>
            <a:srgbClr val="18223E"/>
          </a:solidFill>
          <a:ln>
            <a:solidFill>
              <a:srgbClr val="1F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01000" y="1627632"/>
            <a:ext cx="50292" cy="4526280"/>
          </a:xfrm>
          <a:prstGeom prst="roundRect">
            <a:avLst>
              <a:gd name="adj" fmla="val 12000"/>
            </a:avLst>
          </a:prstGeom>
          <a:solidFill>
            <a:srgbClr val="FF56B1"/>
          </a:solidFill>
          <a:ln>
            <a:solidFill>
              <a:srgbClr val="FF5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02168" y="1792224"/>
            <a:ext cx="3108960" cy="29260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5F8FF"/>
                </a:solidFill>
                <a:latin typeface="Aptos"/>
              </a:rPr>
              <a:t>FINAL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194560"/>
            <a:ext cx="2638223" cy="282538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dirty="0" err="1">
                <a:solidFill>
                  <a:srgbClr val="B2BED7"/>
                </a:solidFill>
                <a:latin typeface="Aptos"/>
              </a:rPr>
              <a:t>MediaMine</a:t>
            </a:r>
            <a:r>
              <a:rPr sz="1200" b="0" dirty="0">
                <a:solidFill>
                  <a:srgbClr val="B2BED7"/>
                </a:solidFill>
                <a:latin typeface="Aptos"/>
              </a:rPr>
              <a:t> connects:
REAL-WORLD MEDIA PROBLEMS
↓
DATA STRUCTURES
↓
ALGORITHMS
↓
COMPLEXITY ANALYSIS
↓
WORKING JAVA IMPLEMENTATION
Algorithmic thinking turns large media</a:t>
            </a:r>
            <a:endParaRPr lang="en-US" sz="12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B2BED7"/>
                </a:solidFill>
                <a:latin typeface="Aptos"/>
              </a:rPr>
              <a:t> data into searchable, comparable and </a:t>
            </a:r>
            <a:endParaRPr lang="en-US" sz="1200" b="0" dirty="0">
              <a:solidFill>
                <a:srgbClr val="B2BED7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B2BED7"/>
                </a:solidFill>
                <a:latin typeface="Aptos"/>
              </a:rPr>
              <a:t>optimizable information.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6291072"/>
            <a:ext cx="9966960" cy="201168"/>
          </a:xfrm>
          <a:prstGeom prst="rect">
            <a:avLst/>
          </a:prstGeom>
          <a:solidFill>
            <a:srgbClr val="3EDCFF"/>
          </a:solidFill>
          <a:ln>
            <a:solidFill>
              <a:srgbClr val="3E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555AC4-8810-6D27-A795-0CE4A6984754}"/>
              </a:ext>
            </a:extLst>
          </p:cNvPr>
          <p:cNvSpPr txBox="1"/>
          <p:nvPr/>
        </p:nvSpPr>
        <p:spPr>
          <a:xfrm>
            <a:off x="2760133" y="1405466"/>
            <a:ext cx="71289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34770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1341</Words>
  <Application>Microsoft Office PowerPoint</Application>
  <PresentationFormat>Widescreen</PresentationFormat>
  <Paragraphs>296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S. Yashaswini</dc:creator>
  <cp:keywords/>
  <dc:description>generated using python-pptx</dc:description>
  <cp:lastModifiedBy>YASHASWINI S</cp:lastModifiedBy>
  <cp:revision>2</cp:revision>
  <dcterms:created xsi:type="dcterms:W3CDTF">2013-01-27T09:14:16Z</dcterms:created>
  <dcterms:modified xsi:type="dcterms:W3CDTF">2026-10-03T06:00:26Z</dcterms:modified>
  <cp:category/>
</cp:coreProperties>
</file>